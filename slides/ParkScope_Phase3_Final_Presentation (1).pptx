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54FB3-6B53-563A-160D-9DF916A22E28}" v="3" dt="2026-01-19T02:09:57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4E82E954-CACA-4ED5-8C55-D9D573012AD2}" type="datetimeFigureOut">
              <a:t>כ"ט/טבת/תשפ"ו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E28FE49-EA3D-40D6-BD50-906434A276D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4606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6338" r="633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48095" y="1517904"/>
            <a:ext cx="5486400" cy="4058107"/>
          </a:xfrm>
          <a:prstGeom prst="roundRect">
            <a:avLst>
              <a:gd name="adj" fmla="val 84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2014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7" name="Shape 4"/>
          <p:cNvSpPr/>
          <p:nvPr/>
        </p:nvSpPr>
        <p:spPr>
          <a:xfrm>
            <a:off x="113157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9" name="Shape 6"/>
          <p:cNvSpPr/>
          <p:nvPr/>
        </p:nvSpPr>
        <p:spPr>
          <a:xfrm>
            <a:off x="115443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10" name="Shape 7"/>
          <p:cNvSpPr/>
          <p:nvPr/>
        </p:nvSpPr>
        <p:spPr>
          <a:xfrm>
            <a:off x="116586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8505" y="457200"/>
            <a:ext cx="2905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REFINE PROJECT DEFINITION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064715"/>
            <a:ext cx="4048963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ParkScope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02559"/>
            <a:ext cx="443392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GenAI-Enhanced Street Parking Detection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88790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4082"/>
            <a:ext cx="929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Kiril Litvin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403604" y="4774082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652321" y="4774082"/>
            <a:ext cx="10341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Lior Yanwo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01138" y="4774082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949854" y="4774082"/>
            <a:ext cx="1338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Stas Shubayev</a:t>
            </a:r>
            <a:endParaRPr lang="en-US" sz="13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6562649" y="1875434"/>
            <a:ext cx="171907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886346" y="1860804"/>
            <a:ext cx="10149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886346" y="2156155"/>
            <a:ext cx="42345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detection hindered by data scarcity, specifically the lack of "available" (empty) parking spot samples.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62649" y="2841955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905549" y="2827325"/>
            <a:ext cx="9390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905549" y="3122676"/>
            <a:ext cx="45198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high-precision detection system utilizing YOLO11 for real-time urban monitoring.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62649" y="3808476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05549" y="3794760"/>
            <a:ext cx="11859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Models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05549" y="4090111"/>
            <a:ext cx="42629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YOLO11n (Nano) for inference &amp; Stable Diffusion for synthetic data generation.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562649" y="4775911"/>
            <a:ext cx="171907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886346" y="4761281"/>
            <a:ext cx="1452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Metrics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886346" y="5056632"/>
            <a:ext cx="21387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and mAP@0.5.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6248095"/>
            <a:ext cx="2115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PROJECT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57300"/>
            <a:ext cx="121916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10183673" y="8759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4FFD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1576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19049"/>
            <a:ext cx="4239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Achievements &amp; Novelty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10374782" y="857707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ParkScope //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71854"/>
            <a:ext cx="5447995" cy="5181905"/>
          </a:xfrm>
          <a:prstGeom prst="roundRect">
            <a:avLst>
              <a:gd name="adj" fmla="val 3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1754" y="1886407"/>
            <a:ext cx="38405" cy="30449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1754" y="24195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mAP@0.5: 0.878 Successfully trained a model ensuring high reliability for urban deployment.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1754" y="31053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Inpainting Created a balanced dataset by removing vehicles from real images to solve data scarcity.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1754" y="37911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Precision: 0.911 Achieved class-specific excellence for "Available" spots, critical for user trust.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1754" y="6081674"/>
            <a:ext cx="4819802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90995" y="1876349"/>
            <a:ext cx="38405" cy="30449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90995" y="3642970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2844" y="380481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6896405" y="3938321"/>
            <a:ext cx="171907" cy="190195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590995" y="4653382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52844" y="481523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86346" y="4947818"/>
            <a:ext cx="190195" cy="19019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590995" y="5662879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52844" y="58247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86346" y="5958230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61949" y="1886407"/>
            <a:ext cx="22009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Achievements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71754" y="6262726"/>
            <a:ext cx="2986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Status: Ready for Real-World Testing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782105" y="1876349"/>
            <a:ext cx="18772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Novelty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590995" y="2447849"/>
            <a:ext cx="4620463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a New Solution Approach by integrating a generative data pipeline directly into the training workflow.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7362749" y="3938321"/>
            <a:ext cx="3495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Bridges gap between biased data &amp; real needs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362749" y="4947818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GenAI-driven synthetic augmentation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362749" y="5958230"/>
            <a:ext cx="2543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training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19595"/>
          </a:xfrm>
          <a:prstGeom prst="rect">
            <a:avLst/>
          </a:prstGeom>
          <a:solidFill>
            <a:srgbClr val="0B112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13" r="-13"/>
          <a:stretch/>
        </p:blipFill>
        <p:spPr>
          <a:xfrm>
            <a:off x="10439705" y="381305"/>
            <a:ext cx="1371600" cy="12188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381305"/>
            <a:ext cx="6382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6344" y="428854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1113" y="418795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81305" y="685800"/>
            <a:ext cx="36292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Methodology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381305" y="1178662"/>
            <a:ext cx="3981298" cy="2505456"/>
          </a:xfrm>
          <a:prstGeom prst="roundRect">
            <a:avLst>
              <a:gd name="adj" fmla="val 166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0644" y="1721815"/>
            <a:ext cx="3581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7"/>
          <p:cNvSpPr/>
          <p:nvPr/>
        </p:nvSpPr>
        <p:spPr>
          <a:xfrm>
            <a:off x="381305" y="3684118"/>
            <a:ext cx="38405" cy="12481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381305" y="4922215"/>
            <a:ext cx="1933956" cy="1009498"/>
          </a:xfrm>
          <a:prstGeom prst="roundRect">
            <a:avLst>
              <a:gd name="adj" fmla="val 6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4749" y="5064862"/>
            <a:ext cx="114300" cy="1143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24989" y="4922215"/>
            <a:ext cx="1933956" cy="1009498"/>
          </a:xfrm>
          <a:prstGeom prst="roundRect">
            <a:avLst>
              <a:gd name="adj" fmla="val 6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48433" y="5064862"/>
            <a:ext cx="114300" cy="11430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580644" y="1420063"/>
            <a:ext cx="190195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7649" y="1407262"/>
            <a:ext cx="1500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5-Stage Pipeline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912718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FOCUS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4093769"/>
            <a:ext cx="15389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3836822"/>
            <a:ext cx="862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3222346" y="4198925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Effort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617720"/>
            <a:ext cx="3724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critical class balance between "Occupied" and "Available".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" y="5046574"/>
            <a:ext cx="790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RTX 2080 Ti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504749" y="5236769"/>
            <a:ext cx="1209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Kiril: CUDA 12.1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04749" y="5426964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8, Workers 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04749" y="5618074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Epochs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2738628" y="5046574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RTX 4070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2548433" y="5236769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Lior: CUDA 12.1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2548433" y="5426964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16, Workers 8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548433" y="5618074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Epochs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734763" y="1178662"/>
            <a:ext cx="7077456" cy="5124298"/>
          </a:xfrm>
          <a:prstGeom prst="roundRect">
            <a:avLst>
              <a:gd name="adj" fmla="val 531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 l="1863" r="1863"/>
          <a:stretch/>
        </p:blipFill>
        <p:spPr>
          <a:xfrm>
            <a:off x="4734239" y="892388"/>
            <a:ext cx="7253816" cy="5623677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80644" y="18836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62026" y="1883664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23544" y="1912925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Scarcity ID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80644" y="22265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7395" y="22265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23544" y="2255825"/>
            <a:ext cx="11576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Inpainting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80644" y="25694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46481" y="25694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923544" y="2598725"/>
            <a:ext cx="1605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Data Creation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80644" y="29123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43738" y="29123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923544" y="2941625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YOLO11 Training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80644" y="32552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47395" y="325526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923544" y="3284525"/>
            <a:ext cx="1424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24244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24712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81305" y="304495"/>
            <a:ext cx="800100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01630" y="800100"/>
            <a:ext cx="152705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6344" y="352044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90218" y="371246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(I)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638251"/>
            <a:ext cx="58585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Training Performance &amp; Key Metrics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530230" y="800100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48095" y="1742846"/>
            <a:ext cx="2743200" cy="1514246"/>
          </a:xfrm>
          <a:prstGeom prst="roundRect">
            <a:avLst>
              <a:gd name="adj" fmla="val 455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39251" y="1943100"/>
            <a:ext cx="15270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48349" y="2590495"/>
            <a:ext cx="23436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0" y="1742846"/>
            <a:ext cx="2743200" cy="1514246"/>
          </a:xfrm>
          <a:prstGeom prst="roundRect">
            <a:avLst>
              <a:gd name="adj" fmla="val 455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1553444" y="1943100"/>
            <a:ext cx="133502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344254" y="2590495"/>
            <a:ext cx="23436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095" y="3409798"/>
            <a:ext cx="5639105" cy="1762049"/>
          </a:xfrm>
          <a:prstGeom prst="roundRect">
            <a:avLst>
              <a:gd name="adj" fmla="val 336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86754" y="3877056"/>
            <a:ext cx="5162702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4000" r="-4000"/>
          <a:stretch/>
        </p:blipFill>
        <p:spPr>
          <a:xfrm>
            <a:off x="6486754" y="3666744"/>
            <a:ext cx="123444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87007" y="3648456"/>
            <a:ext cx="762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1447495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METRICS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448349" y="1943100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MAP@0.5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2104949"/>
            <a:ext cx="1181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0.878</a:t>
            </a:r>
            <a:endParaRPr lang="en-US" sz="2700" dirty="0"/>
          </a:p>
        </p:txBody>
      </p:sp>
      <p:sp>
        <p:nvSpPr>
          <p:cNvPr id="23" name="Text 17"/>
          <p:cNvSpPr txBox="1"/>
          <p:nvPr/>
        </p:nvSpPr>
        <p:spPr>
          <a:xfrm>
            <a:off x="6448349" y="2676449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reliability suitable for urban deployment.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344254" y="1943100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"AVAILABLE" CLASS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344254" y="2104949"/>
            <a:ext cx="1105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0.911</a:t>
            </a:r>
            <a:endParaRPr lang="en-US" sz="2700" dirty="0"/>
          </a:p>
        </p:txBody>
      </p:sp>
      <p:sp>
        <p:nvSpPr>
          <p:cNvPr id="26" name="Text 20"/>
          <p:cNvSpPr txBox="1"/>
          <p:nvPr/>
        </p:nvSpPr>
        <p:spPr>
          <a:xfrm>
            <a:off x="10261397" y="2343607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mAP@0.5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9344254" y="2676449"/>
            <a:ext cx="2267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metric for user trust in the app.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657746" y="4086454"/>
            <a:ext cx="967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657746" y="4304995"/>
            <a:ext cx="3353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drop in box &amp; classification loss over 100 epochs.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04495" y="1438351"/>
            <a:ext cx="5639105" cy="2905049"/>
          </a:xfrm>
          <a:prstGeom prst="roundRect">
            <a:avLst>
              <a:gd name="adj" fmla="val 123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8" r="8"/>
          <a:stretch/>
        </p:blipFill>
        <p:spPr>
          <a:xfrm>
            <a:off x="390449" y="1524305"/>
            <a:ext cx="5467198" cy="273405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304495" y="4496105"/>
            <a:ext cx="5639105" cy="1723644"/>
          </a:xfrm>
          <a:prstGeom prst="roundRect">
            <a:avLst>
              <a:gd name="adj" fmla="val 351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279" r="279"/>
          <a:stretch/>
        </p:blipFill>
        <p:spPr>
          <a:xfrm>
            <a:off x="314554" y="4505249"/>
            <a:ext cx="5619902" cy="17053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486754" y="4700930"/>
            <a:ext cx="422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Stabilization Metrics peak and stabilize around Epoch 50.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314554" y="1447495"/>
            <a:ext cx="2295144" cy="31455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6344" y="1528877"/>
            <a:ext cx="114300" cy="1143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7454" y="1533449"/>
            <a:ext cx="18772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Training Logs (100 Epochs)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314554" y="5886907"/>
            <a:ext cx="3124505" cy="31455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28854" y="5953658"/>
            <a:ext cx="152705" cy="1527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57454" y="5962802"/>
            <a:ext cx="27724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Detection Example (Inference)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" y="752551"/>
            <a:ext cx="1158270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224028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224028"/>
            <a:ext cx="19248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&amp; RELIABILITY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04495" y="414223"/>
            <a:ext cx="637702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 (II): Confusions &amp; Threshold Behavior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658600" y="45262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8" name="Shape 6"/>
          <p:cNvSpPr/>
          <p:nvPr/>
        </p:nvSpPr>
        <p:spPr>
          <a:xfrm>
            <a:off x="11811305" y="45262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9" name="Shape 7"/>
          <p:cNvSpPr/>
          <p:nvPr/>
        </p:nvSpPr>
        <p:spPr>
          <a:xfrm>
            <a:off x="304495" y="990295"/>
            <a:ext cx="2276856" cy="4429354"/>
          </a:xfrm>
          <a:prstGeom prst="roundRect">
            <a:avLst>
              <a:gd name="adj" fmla="val 2016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504749" y="1797710"/>
            <a:ext cx="171907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4749" y="2150669"/>
            <a:ext cx="14054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Available Spots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4749" y="2435962"/>
            <a:ext cx="8814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04749" y="2817266"/>
            <a:ext cx="1495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Positive Rate (76/85)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4749" y="3274466"/>
            <a:ext cx="1876349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504749" y="3436315"/>
            <a:ext cx="2862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4749" y="3788359"/>
            <a:ext cx="14438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Occupied Spots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04749" y="4074566"/>
            <a:ext cx="862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79%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504749" y="4454957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Positive Rate (41/52)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04495" y="5567782"/>
            <a:ext cx="2276856" cy="990295"/>
          </a:xfrm>
          <a:prstGeom prst="roundRect">
            <a:avLst>
              <a:gd name="adj" fmla="val 10654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66344" y="5767121"/>
            <a:ext cx="114300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4944" y="5729630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694944" y="5919826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metrics confirm model robustness across varied confidence thresholds.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804465" y="990295"/>
            <a:ext cx="4466844" cy="3629254"/>
          </a:xfrm>
          <a:prstGeom prst="roundRect">
            <a:avLst>
              <a:gd name="adj" fmla="val 52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112" r="112"/>
          <a:stretch/>
        </p:blipFill>
        <p:spPr>
          <a:xfrm>
            <a:off x="2927909" y="1114654"/>
            <a:ext cx="4219956" cy="317205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183380" y="4330598"/>
            <a:ext cx="1800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(Raw Counts)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422185" y="990295"/>
            <a:ext cx="4466844" cy="3629254"/>
          </a:xfrm>
          <a:prstGeom prst="roundRect">
            <a:avLst>
              <a:gd name="adj" fmla="val 52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112" r="112"/>
          <a:stretch/>
        </p:blipFill>
        <p:spPr>
          <a:xfrm>
            <a:off x="7545629" y="1114654"/>
            <a:ext cx="4219956" cy="317205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814816" y="4330598"/>
            <a:ext cx="1772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(Normalized)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804465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l="2246" r="2246"/>
          <a:stretch/>
        </p:blipFill>
        <p:spPr>
          <a:xfrm>
            <a:off x="2889504" y="4853635"/>
            <a:ext cx="2018995" cy="14100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428086" y="6305702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vs Confidence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5103266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 l="2246" r="2246"/>
          <a:stretch/>
        </p:blipFill>
        <p:spPr>
          <a:xfrm>
            <a:off x="5189220" y="4853635"/>
            <a:ext cx="2018995" cy="14100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532120" y="6305702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vs Confidence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7402982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l="2246" r="2246"/>
          <a:stretch/>
        </p:blipFill>
        <p:spPr>
          <a:xfrm>
            <a:off x="7488022" y="4853635"/>
            <a:ext cx="2018995" cy="14100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919618" y="6305702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vs Confidence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9701784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 l="2246" r="2246"/>
          <a:stretch/>
        </p:blipFill>
        <p:spPr>
          <a:xfrm>
            <a:off x="9787738" y="4853635"/>
            <a:ext cx="2018995" cy="14100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0165385" y="6305702"/>
            <a:ext cx="1353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Precision-Recall (mAP)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57300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476402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476402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THOUGHTS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94944"/>
            <a:ext cx="2095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647749"/>
            <a:ext cx="11277295" cy="1419149"/>
          </a:xfrm>
          <a:prstGeom prst="roundRect">
            <a:avLst>
              <a:gd name="adj" fmla="val 51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4205" y="1886407"/>
            <a:ext cx="609905" cy="609905"/>
          </a:xfrm>
          <a:prstGeom prst="roundRect">
            <a:avLst>
              <a:gd name="adj" fmla="val 1874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929030" y="2076602"/>
            <a:ext cx="200254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61795" y="1886407"/>
            <a:ext cx="20199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Outcome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561795" y="2305202"/>
            <a:ext cx="96441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successfully met its goals by delivering a robust, real-time detection model capable of identifying parking availability with high precision.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90926"/>
            <a:ext cx="11277295" cy="1419149"/>
          </a:xfrm>
          <a:prstGeom prst="roundRect">
            <a:avLst>
              <a:gd name="adj" fmla="val 51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4205" y="3528670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4C1D95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942746" y="3719779"/>
            <a:ext cx="171907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61795" y="3528670"/>
            <a:ext cx="14200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Lesson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561795" y="3948379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GenAI-driven data augmentation is a powerful tool for overcoming class imbalance in computer vision tasks where real-world data collection is difficult.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4934102"/>
            <a:ext cx="11277295" cy="1333195"/>
          </a:xfrm>
          <a:prstGeom prst="roundRect">
            <a:avLst>
              <a:gd name="adj" fmla="val 587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4205" y="5171846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064E3B">
              <a:alpha val="30000"/>
            </a:srgbClr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" y="5362956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61795" y="5171846"/>
            <a:ext cx="22293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Exploration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1561795" y="5591556"/>
            <a:ext cx="4895698" cy="437998"/>
          </a:xfrm>
          <a:prstGeom prst="roundRect">
            <a:avLst>
              <a:gd name="adj" fmla="val 36307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86154" y="5734202"/>
            <a:ext cx="152705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952244" y="5724144"/>
            <a:ext cx="3225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on edge hardware (Jetson Nano/RPi)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05626" y="5591556"/>
            <a:ext cx="4895698" cy="437998"/>
          </a:xfrm>
          <a:prstGeom prst="roundRect">
            <a:avLst>
              <a:gd name="adj" fmla="val 36307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729070" y="5734202"/>
            <a:ext cx="171907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15277" y="5724144"/>
            <a:ext cx="25767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dataset (Night-time &amp; Weather)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1544300" y="662025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8B5CF6">
              <a:alpha val="5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11677802" y="662025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457200" y="6572707"/>
            <a:ext cx="2429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PARKSCOPE PRESENTATION //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6</Slides>
  <Notes>6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7" baseType="lpstr"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4</cp:revision>
  <dcterms:created xsi:type="dcterms:W3CDTF">2026-01-19T01:48:00Z</dcterms:created>
  <dcterms:modified xsi:type="dcterms:W3CDTF">2026-01-19T02:10:40Z</dcterms:modified>
</cp:coreProperties>
</file>