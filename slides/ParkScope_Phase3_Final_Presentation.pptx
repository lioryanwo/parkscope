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254FB3-6B53-563A-160D-9DF916A22E28}" v="15" dt="2026-01-19T02:12:54.463"/>
    <p1510:client id="{2505DBAE-A245-8BD2-2720-F492C368325C}" v="64" dt="2026-01-19T14:30:34.3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49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E82E954-CACA-4ED5-8C55-D9D573012AD2}" type="datetimeFigureOut">
              <a:t>1/26/2026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1E28FE49-EA3D-40D6-BD50-906434A276D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4606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hyperlink" Target="https://universe.roboflow.com/gs-avwvg/roadside-parking-slo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l="6338" r="6338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>
              <a:alpha val="9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248095" y="1517904"/>
            <a:ext cx="5486400" cy="4058107"/>
          </a:xfrm>
          <a:prstGeom prst="roundRect">
            <a:avLst>
              <a:gd name="adj" fmla="val 84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201400" y="6324905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315700" y="6324905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430000" y="6324905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544300" y="6324905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1658600" y="6324905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838505" y="457200"/>
            <a:ext cx="29059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AND REFINE PROJECT DEFINITION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064715"/>
            <a:ext cx="4048963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ParkScope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102559"/>
            <a:ext cx="443392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GenAI-Enhanced Street Parking Detection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8790"/>
            <a:ext cx="103418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74082"/>
            <a:ext cx="9290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Kiril Litvin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03604" y="4774082"/>
            <a:ext cx="23408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652321" y="4774082"/>
            <a:ext cx="103418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Lior Yanwo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01138" y="4774082"/>
            <a:ext cx="23408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949854" y="4774082"/>
            <a:ext cx="1338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Stas Shubayev</a:t>
            </a:r>
            <a:endParaRPr lang="en-US" sz="13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6562649" y="1875434"/>
            <a:ext cx="171907" cy="1901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86346" y="1860804"/>
            <a:ext cx="101498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886346" y="2156155"/>
            <a:ext cx="423458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Urban detection hindered by data scarcity, specifically the lack of "available" (empty) parking spot samples.</a:t>
            </a:r>
            <a:endParaRPr lang="en-US" sz="10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62649" y="2841955"/>
            <a:ext cx="190195" cy="19019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905549" y="2827325"/>
            <a:ext cx="93908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Definition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905549" y="3122676"/>
            <a:ext cx="45198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high-precision detection system utilizing YOLO11 for real-time urban monitoring.</a:t>
            </a:r>
            <a:endParaRPr lang="en-US" sz="10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62649" y="3808476"/>
            <a:ext cx="190195" cy="19019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905549" y="3794760"/>
            <a:ext cx="11859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Models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905549" y="4090111"/>
            <a:ext cx="42629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YOLO11n (Nano) for inference &amp; Stable Diffusion for synthetic data generation.</a:t>
            </a:r>
            <a:endParaRPr lang="en-US" sz="10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562649" y="4775911"/>
            <a:ext cx="171907" cy="19019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886346" y="4761281"/>
            <a:ext cx="14529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Metrics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886346" y="5056632"/>
            <a:ext cx="213878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Precision, Recall, and mAP@0.5.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57200" y="6248095"/>
            <a:ext cx="21150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PROJECT OVERVIEW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57300"/>
            <a:ext cx="12191695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183673" y="875995"/>
            <a:ext cx="114300" cy="114300"/>
          </a:xfrm>
          <a:prstGeom prst="roundRect">
            <a:avLst>
              <a:gd name="adj" fmla="val 800000"/>
            </a:avLst>
          </a:prstGeom>
          <a:solidFill>
            <a:srgbClr val="64FF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390449"/>
            <a:ext cx="15764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19049"/>
            <a:ext cx="42391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Achievements &amp; Novelty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10374782" y="857707"/>
            <a:ext cx="146212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ParkScope //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71854"/>
            <a:ext cx="5447995" cy="5181905"/>
          </a:xfrm>
          <a:prstGeom prst="roundRect">
            <a:avLst>
              <a:gd name="adj" fmla="val 389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1754" y="1886407"/>
            <a:ext cx="38405" cy="304495"/>
          </a:xfrm>
          <a:prstGeom prst="rect">
            <a:avLst/>
          </a:prstGeom>
          <a:solidFill>
            <a:srgbClr val="64FF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71754" y="2419502"/>
            <a:ext cx="4934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6F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mAP@0.5: 0.878 Successfully trained a model ensuring high reliability for urban deployment.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1754" y="3105302"/>
            <a:ext cx="4934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6F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GenAI Inpainting Created a balanced dataset by removing vehicles from real images to solve data scarcity.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1754" y="3791102"/>
            <a:ext cx="4934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6F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Precision: 0.911 Achieved class-specific excellence for "Available" spots, critical for user trust.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1754" y="6081674"/>
            <a:ext cx="4819802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590995" y="1876349"/>
            <a:ext cx="38405" cy="304495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590995" y="3642970"/>
            <a:ext cx="4839005" cy="780898"/>
          </a:xfrm>
          <a:prstGeom prst="roundRect">
            <a:avLst>
              <a:gd name="adj" fmla="val 11424"/>
            </a:avLst>
          </a:prstGeom>
          <a:solidFill>
            <a:srgbClr val="111827">
              <a:alpha val="5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752844" y="380481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4FFD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rcRect l="-1648" r="-1648"/>
          <a:stretch/>
        </p:blipFill>
        <p:spPr>
          <a:xfrm>
            <a:off x="6896405" y="3938321"/>
            <a:ext cx="171907" cy="190195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590995" y="4653382"/>
            <a:ext cx="4839005" cy="780898"/>
          </a:xfrm>
          <a:prstGeom prst="roundRect">
            <a:avLst>
              <a:gd name="adj" fmla="val 11424"/>
            </a:avLst>
          </a:prstGeom>
          <a:solidFill>
            <a:srgbClr val="111827">
              <a:alpha val="5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752844" y="48152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4FFD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86346" y="4947818"/>
            <a:ext cx="190195" cy="190195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590995" y="5662879"/>
            <a:ext cx="4839005" cy="780898"/>
          </a:xfrm>
          <a:prstGeom prst="roundRect">
            <a:avLst>
              <a:gd name="adj" fmla="val 11424"/>
            </a:avLst>
          </a:prstGeom>
          <a:solidFill>
            <a:srgbClr val="111827">
              <a:alpha val="5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752844" y="58247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4FFD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86346" y="5958230"/>
            <a:ext cx="190195" cy="19019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61949" y="1886407"/>
            <a:ext cx="2200961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Achievements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771754" y="6262726"/>
            <a:ext cx="298643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Status: Ready for Real-World Testing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6782105" y="1876349"/>
            <a:ext cx="187726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Novelty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6590995" y="2447849"/>
            <a:ext cx="4620463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a New Solution Approach by integrating a generative data pipeline directly into the training workflow.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362749" y="3938321"/>
            <a:ext cx="34957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Bridges gap between biased data &amp; real needs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362749" y="4947818"/>
            <a:ext cx="28483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GenAI-driven synthetic augmentation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362749" y="5958230"/>
            <a:ext cx="2543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Closed-loop training optimization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19595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-13" r="-13"/>
          <a:stretch/>
        </p:blipFill>
        <p:spPr>
          <a:xfrm>
            <a:off x="10439705" y="381305"/>
            <a:ext cx="1371600" cy="121889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81305" y="381305"/>
            <a:ext cx="6382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66344" y="428854"/>
            <a:ext cx="5532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31113" y="418795"/>
            <a:ext cx="130027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81305" y="685800"/>
            <a:ext cx="36292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Methodology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381305" y="1178662"/>
            <a:ext cx="3981298" cy="2505456"/>
          </a:xfrm>
          <a:prstGeom prst="roundRect">
            <a:avLst>
              <a:gd name="adj" fmla="val 166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80644" y="1721815"/>
            <a:ext cx="3581705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81305" y="3684118"/>
            <a:ext cx="38405" cy="124815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81305" y="4922215"/>
            <a:ext cx="1933956" cy="1009498"/>
          </a:xfrm>
          <a:prstGeom prst="roundRect">
            <a:avLst>
              <a:gd name="adj" fmla="val 683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4749" y="5064862"/>
            <a:ext cx="114300" cy="1143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424989" y="4922215"/>
            <a:ext cx="1933956" cy="1009498"/>
          </a:xfrm>
          <a:prstGeom prst="roundRect">
            <a:avLst>
              <a:gd name="adj" fmla="val 683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48433" y="5064862"/>
            <a:ext cx="114300" cy="114300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580644" y="1420063"/>
            <a:ext cx="190195" cy="17190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47649" y="1407262"/>
            <a:ext cx="1500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5-Stage Pipeline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571500" y="3912718"/>
            <a:ext cx="10287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FOCUS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571500" y="4093769"/>
            <a:ext cx="153893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3836822"/>
            <a:ext cx="8622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20" name="Text 14"/>
          <p:cNvSpPr txBox="1"/>
          <p:nvPr/>
        </p:nvSpPr>
        <p:spPr>
          <a:xfrm>
            <a:off x="3222346" y="4198925"/>
            <a:ext cx="10954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Total Effort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571500" y="4617720"/>
            <a:ext cx="3724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Ensured critical class balance between "Occupied" and "Available".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694944" y="5046574"/>
            <a:ext cx="79095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RTX 2080 Ti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504749" y="5236769"/>
            <a:ext cx="12097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Kiril: CUDA 12.1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04749" y="5426964"/>
            <a:ext cx="14959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8, Workers 4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04749" y="5618074"/>
            <a:ext cx="9528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Epochs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2738628" y="5046574"/>
            <a:ext cx="6483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RTX 4070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2548433" y="5236769"/>
            <a:ext cx="12006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Lior: CUDA 12.1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2548433" y="5426964"/>
            <a:ext cx="15526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16, Workers 8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2548433" y="5618074"/>
            <a:ext cx="9528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Epochs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734763" y="1178662"/>
            <a:ext cx="7077456" cy="5124298"/>
          </a:xfrm>
          <a:prstGeom prst="roundRect">
            <a:avLst>
              <a:gd name="adj" fmla="val 531"/>
            </a:avLst>
          </a:prstGeom>
          <a:solidFill>
            <a:srgbClr val="000000"/>
          </a:solidFill>
          <a:ln w="12700">
            <a:solidFill>
              <a:srgbClr val="E5E7EB"/>
            </a:solidFill>
            <a:prstDash val="solid"/>
          </a:ln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/>
          <a:srcRect l="1863" r="1863"/>
          <a:stretch/>
        </p:blipFill>
        <p:spPr>
          <a:xfrm>
            <a:off x="4734239" y="892388"/>
            <a:ext cx="7253816" cy="5623677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580644" y="1883664"/>
            <a:ext cx="228600" cy="228600"/>
          </a:xfrm>
          <a:prstGeom prst="roundRect">
            <a:avLst>
              <a:gd name="adj" fmla="val 400000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6"/>
          <p:cNvSpPr txBox="1"/>
          <p:nvPr/>
        </p:nvSpPr>
        <p:spPr>
          <a:xfrm>
            <a:off x="662026" y="1883664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23544" y="1912925"/>
            <a:ext cx="112928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Scarcity ID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80644" y="2226564"/>
            <a:ext cx="228600" cy="228600"/>
          </a:xfrm>
          <a:prstGeom prst="roundRect">
            <a:avLst>
              <a:gd name="adj" fmla="val 400000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9"/>
          <p:cNvSpPr txBox="1"/>
          <p:nvPr/>
        </p:nvSpPr>
        <p:spPr>
          <a:xfrm>
            <a:off x="647395" y="2226564"/>
            <a:ext cx="219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23544" y="2255825"/>
            <a:ext cx="115763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GenAI Inpainting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80644" y="2569464"/>
            <a:ext cx="228600" cy="228600"/>
          </a:xfrm>
          <a:prstGeom prst="roundRect">
            <a:avLst>
              <a:gd name="adj" fmla="val 400000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2"/>
          <p:cNvSpPr txBox="1"/>
          <p:nvPr/>
        </p:nvSpPr>
        <p:spPr>
          <a:xfrm>
            <a:off x="646481" y="2569464"/>
            <a:ext cx="219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923544" y="2598725"/>
            <a:ext cx="160568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Balanced Data Creation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580644" y="2912364"/>
            <a:ext cx="228600" cy="228600"/>
          </a:xfrm>
          <a:prstGeom prst="roundRect">
            <a:avLst>
              <a:gd name="adj" fmla="val 400000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5"/>
          <p:cNvSpPr txBox="1"/>
          <p:nvPr/>
        </p:nvSpPr>
        <p:spPr>
          <a:xfrm>
            <a:off x="643738" y="2912364"/>
            <a:ext cx="219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923544" y="2909875"/>
            <a:ext cx="1266867" cy="236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2E8F0"/>
                </a:solidFill>
                <a:latin typeface="Inter"/>
                <a:ea typeface="Inter"/>
                <a:cs typeface="Inter" pitchFamily="34" charset="-120"/>
              </a:rPr>
              <a:t>YOLO11 Fine-Tuning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580644" y="3255264"/>
            <a:ext cx="228600" cy="228600"/>
          </a:xfrm>
          <a:prstGeom prst="roundRect">
            <a:avLst>
              <a:gd name="adj" fmla="val 400000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8"/>
          <p:cNvSpPr txBox="1"/>
          <p:nvPr/>
        </p:nvSpPr>
        <p:spPr>
          <a:xfrm>
            <a:off x="647395" y="3255264"/>
            <a:ext cx="21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Text 39"/>
          <p:cNvSpPr txBox="1"/>
          <p:nvPr/>
        </p:nvSpPr>
        <p:spPr>
          <a:xfrm>
            <a:off x="923544" y="3284525"/>
            <a:ext cx="142463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Detection</a:t>
            </a:r>
            <a:endParaRPr lang="en-US" sz="1000" dirty="0"/>
          </a:p>
        </p:txBody>
      </p:sp>
      <p:sp>
        <p:nvSpPr>
          <p:cNvPr id="47" name="תיבת טקסט 46">
            <a:extLst>
              <a:ext uri="{FF2B5EF4-FFF2-40B4-BE49-F238E27FC236}">
                <a16:creationId xmlns:a16="http://schemas.microsoft.com/office/drawing/2014/main" id="{5E046D07-578D-C11E-08E8-AED931F6D52F}"/>
              </a:ext>
            </a:extLst>
          </p:cNvPr>
          <p:cNvSpPr txBox="1"/>
          <p:nvPr/>
        </p:nvSpPr>
        <p:spPr>
          <a:xfrm>
            <a:off x="307347" y="6096000"/>
            <a:ext cx="4251055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The dataset we used to create this hybrid model:</a:t>
            </a:r>
          </a:p>
          <a:p>
            <a:r>
              <a:rPr lang="en-US" dirty="0">
                <a:solidFill>
                  <a:schemeClr val="bg1"/>
                </a:solidFill>
                <a:hlinkClick r:id="rId7"/>
              </a:rPr>
              <a:t>Link here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227B99A3-B32E-193C-D8B9-1F875725930F}"/>
              </a:ext>
            </a:extLst>
          </p:cNvPr>
          <p:cNvSpPr/>
          <p:nvPr/>
        </p:nvSpPr>
        <p:spPr>
          <a:xfrm>
            <a:off x="0" y="0"/>
            <a:ext cx="12191695" cy="6819595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תמונה 4" descr="תמונה שמכילה צילום מסך, טקסט, קולאז’, תוכנה גרפית&#10;&#10;ייתכן שתוכן בינה מלאכותית גנרטיבית. שגוי.">
            <a:extLst>
              <a:ext uri="{FF2B5EF4-FFF2-40B4-BE49-F238E27FC236}">
                <a16:creationId xmlns:a16="http://schemas.microsoft.com/office/drawing/2014/main" id="{C187B682-3CFC-01B7-8ED0-ADEA1260D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750"/>
            <a:ext cx="6625167" cy="5767917"/>
          </a:xfrm>
          <a:prstGeom prst="rect">
            <a:avLst/>
          </a:prstGeom>
        </p:spPr>
      </p:pic>
      <p:pic>
        <p:nvPicPr>
          <p:cNvPr id="7" name="תמונה 6" descr="תמונה שמכילה טקסט, צילום מסך, בחוץ&#10;&#10;ייתכן שתוכן בינה מלאכותית גנרטיבית. שגוי.">
            <a:extLst>
              <a:ext uri="{FF2B5EF4-FFF2-40B4-BE49-F238E27FC236}">
                <a16:creationId xmlns:a16="http://schemas.microsoft.com/office/drawing/2014/main" id="{26C34624-08B2-150C-5C34-DA19A82E6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166" y="0"/>
            <a:ext cx="5566834" cy="6858000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363AF550-89BE-B6E0-DB3A-ECEB0010CBA5}"/>
              </a:ext>
            </a:extLst>
          </p:cNvPr>
          <p:cNvSpPr txBox="1"/>
          <p:nvPr/>
        </p:nvSpPr>
        <p:spPr>
          <a:xfrm>
            <a:off x="772889" y="-44450"/>
            <a:ext cx="4327753" cy="109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Inter"/>
                <a:ea typeface="Inter"/>
              </a:rPr>
              <a:t>Runs</a:t>
            </a:r>
            <a:endParaRPr lang="he-IL" sz="4400"/>
          </a:p>
        </p:txBody>
      </p:sp>
    </p:spTree>
    <p:extLst>
      <p:ext uri="{BB962C8B-B14F-4D97-AF65-F5344CB8AC3E}">
        <p14:creationId xmlns:p14="http://schemas.microsoft.com/office/powerpoint/2010/main" val="1144747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938682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flipV="1">
            <a:off x="0" y="1080940"/>
            <a:ext cx="12191695" cy="143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81305" y="304495"/>
            <a:ext cx="800100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01630" y="800100"/>
            <a:ext cx="152705" cy="1527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66344" y="352044"/>
            <a:ext cx="7434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4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290218" y="371246"/>
            <a:ext cx="7434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(I)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381305" y="638251"/>
            <a:ext cx="5858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Training Performance &amp; Key Metrics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10530230" y="800100"/>
            <a:ext cx="138623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Model Evaluation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48095" y="1742846"/>
            <a:ext cx="2743200" cy="1514246"/>
          </a:xfrm>
          <a:prstGeom prst="roundRect">
            <a:avLst>
              <a:gd name="adj" fmla="val 4557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39251" y="1943100"/>
            <a:ext cx="152705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448349" y="2590495"/>
            <a:ext cx="2343607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9144000" y="1742846"/>
            <a:ext cx="2743200" cy="1514246"/>
          </a:xfrm>
          <a:prstGeom prst="roundRect">
            <a:avLst>
              <a:gd name="adj" fmla="val 4557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11553444" y="1943100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344254" y="2590495"/>
            <a:ext cx="2343607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248095" y="3409798"/>
            <a:ext cx="5639105" cy="1762049"/>
          </a:xfrm>
          <a:prstGeom prst="roundRect">
            <a:avLst>
              <a:gd name="adj" fmla="val 336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486754" y="3877056"/>
            <a:ext cx="5162702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4000" r="-4000"/>
          <a:stretch/>
        </p:blipFill>
        <p:spPr>
          <a:xfrm>
            <a:off x="6486754" y="3666744"/>
            <a:ext cx="123444" cy="1143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87007" y="3648456"/>
            <a:ext cx="762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6629400" y="1447495"/>
            <a:ext cx="66202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METRICS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6448349" y="1943100"/>
            <a:ext cx="12390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MAP@0.5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2104949"/>
            <a:ext cx="11814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0.878</a:t>
            </a:r>
            <a:endParaRPr lang="en-US" sz="2700" dirty="0"/>
          </a:p>
        </p:txBody>
      </p:sp>
      <p:sp>
        <p:nvSpPr>
          <p:cNvPr id="23" name="Text 17"/>
          <p:cNvSpPr txBox="1"/>
          <p:nvPr/>
        </p:nvSpPr>
        <p:spPr>
          <a:xfrm>
            <a:off x="6448349" y="2676449"/>
            <a:ext cx="2457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reliability suitable for urban deployment.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9344254" y="1943100"/>
            <a:ext cx="127650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"AVAILABLE" CLASS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344254" y="2104949"/>
            <a:ext cx="11055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0.911</a:t>
            </a:r>
            <a:endParaRPr lang="en-US" sz="2700" dirty="0"/>
          </a:p>
        </p:txBody>
      </p:sp>
      <p:sp>
        <p:nvSpPr>
          <p:cNvPr id="26" name="Text 20"/>
          <p:cNvSpPr txBox="1"/>
          <p:nvPr/>
        </p:nvSpPr>
        <p:spPr>
          <a:xfrm>
            <a:off x="10261397" y="2343607"/>
            <a:ext cx="5715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4D399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mAP@0.5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9344254" y="2676449"/>
            <a:ext cx="22677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metric for user trust in the app.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6657746" y="4086454"/>
            <a:ext cx="96743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Convergence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6657746" y="4304995"/>
            <a:ext cx="33531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drop in box &amp; classification loss over 100 epochs.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04495" y="1438351"/>
            <a:ext cx="5639105" cy="2905049"/>
          </a:xfrm>
          <a:prstGeom prst="roundRect">
            <a:avLst>
              <a:gd name="adj" fmla="val 123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15000"/>
              </a:srgbClr>
            </a:solidFill>
            <a:prstDash val="solid"/>
          </a:ln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rcRect l="8" r="8"/>
          <a:stretch/>
        </p:blipFill>
        <p:spPr>
          <a:xfrm>
            <a:off x="390449" y="1524305"/>
            <a:ext cx="5467198" cy="2734056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304495" y="4496105"/>
            <a:ext cx="5639105" cy="1723644"/>
          </a:xfrm>
          <a:prstGeom prst="roundRect">
            <a:avLst>
              <a:gd name="adj" fmla="val 3517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15000"/>
              </a:srgbClr>
            </a:solidFill>
            <a:prstDash val="solid"/>
          </a:ln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l="279" r="279"/>
          <a:stretch/>
        </p:blipFill>
        <p:spPr>
          <a:xfrm>
            <a:off x="314554" y="4505249"/>
            <a:ext cx="5619902" cy="170535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4421" y="4700930"/>
            <a:ext cx="4567766" cy="239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Stabilization Metrics peak and stabilize around Epoch 50.</a:t>
            </a:r>
            <a:endParaRPr lang="en-US" sz="12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66344" y="1528877"/>
            <a:ext cx="114300" cy="11430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382287" y="1300615"/>
            <a:ext cx="18772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Training Logs (100 Epochs)</a:t>
            </a:r>
            <a:endParaRPr lang="en-US" sz="900" dirty="0"/>
          </a:p>
        </p:txBody>
      </p:sp>
      <p:sp>
        <p:nvSpPr>
          <p:cNvPr id="38" name="Shape 29"/>
          <p:cNvSpPr/>
          <p:nvPr/>
        </p:nvSpPr>
        <p:spPr>
          <a:xfrm>
            <a:off x="314554" y="5886907"/>
            <a:ext cx="3124505" cy="314554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28854" y="5953658"/>
            <a:ext cx="152705" cy="152705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57454" y="5962802"/>
            <a:ext cx="27724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Detection Example (Inference)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04495" y="752551"/>
            <a:ext cx="11582705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224028"/>
            <a:ext cx="5532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33272" y="224028"/>
            <a:ext cx="19248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EVALUATION &amp; RELIABILITY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04495" y="414223"/>
            <a:ext cx="637702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Results (II): Confusions &amp; Threshold Behavior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1658600" y="452628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11305" y="452628"/>
            <a:ext cx="75895" cy="75895"/>
          </a:xfrm>
          <a:prstGeom prst="roundRect">
            <a:avLst>
              <a:gd name="adj" fmla="val 1204822"/>
            </a:avLst>
          </a:prstGeom>
          <a:solidFill>
            <a:srgbClr val="4B55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04495" y="990295"/>
            <a:ext cx="2276856" cy="4429354"/>
          </a:xfrm>
          <a:prstGeom prst="roundRect">
            <a:avLst>
              <a:gd name="adj" fmla="val 2016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133" r="-133"/>
          <a:stretch/>
        </p:blipFill>
        <p:spPr>
          <a:xfrm>
            <a:off x="504749" y="1797710"/>
            <a:ext cx="171907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4749" y="2150669"/>
            <a:ext cx="14054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Available Spots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4749" y="2435962"/>
            <a:ext cx="8814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504749" y="2817266"/>
            <a:ext cx="14959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True Positive Rate (76/85)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04749" y="3274466"/>
            <a:ext cx="1876349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504749" y="3436315"/>
            <a:ext cx="2862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04749" y="3788359"/>
            <a:ext cx="14438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Occupied Spots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04749" y="4074566"/>
            <a:ext cx="8622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78B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79%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04749" y="4454957"/>
            <a:ext cx="147675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True Positive Rate (41/52)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304495" y="5567782"/>
            <a:ext cx="2276856" cy="990295"/>
          </a:xfrm>
          <a:prstGeom prst="roundRect">
            <a:avLst>
              <a:gd name="adj" fmla="val 10654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466344" y="5767121"/>
            <a:ext cx="114300" cy="15270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944" y="5729630"/>
            <a:ext cx="7717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694944" y="5919826"/>
            <a:ext cx="1781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metrics confirm model robustness across varied confidence thresholds.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2804465" y="990295"/>
            <a:ext cx="4466844" cy="3629254"/>
          </a:xfrm>
          <a:prstGeom prst="roundRect">
            <a:avLst>
              <a:gd name="adj" fmla="val 529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112" r="112"/>
          <a:stretch/>
        </p:blipFill>
        <p:spPr>
          <a:xfrm>
            <a:off x="2927909" y="1114654"/>
            <a:ext cx="4219956" cy="317205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183380" y="4330598"/>
            <a:ext cx="18004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Confusion Matrix (Raw Counts)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7422185" y="990295"/>
            <a:ext cx="4466844" cy="3629254"/>
          </a:xfrm>
          <a:prstGeom prst="roundRect">
            <a:avLst>
              <a:gd name="adj" fmla="val 529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 l="112" r="112"/>
          <a:stretch/>
        </p:blipFill>
        <p:spPr>
          <a:xfrm>
            <a:off x="7545629" y="1114654"/>
            <a:ext cx="4219956" cy="31720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814816" y="4330598"/>
            <a:ext cx="17721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Confusion Matrix (Normalized)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2804465" y="4768596"/>
            <a:ext cx="2190902" cy="1790395"/>
          </a:xfrm>
          <a:prstGeom prst="roundRect">
            <a:avLst>
              <a:gd name="adj" fmla="val 2173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 l="2246" r="2246"/>
          <a:stretch/>
        </p:blipFill>
        <p:spPr>
          <a:xfrm>
            <a:off x="2889504" y="4853635"/>
            <a:ext cx="2018995" cy="1410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428086" y="6305702"/>
            <a:ext cx="10287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F1 vs Confidence</a:t>
            </a:r>
            <a:endParaRPr lang="en-US" sz="900" dirty="0"/>
          </a:p>
        </p:txBody>
      </p:sp>
      <p:sp>
        <p:nvSpPr>
          <p:cNvPr id="32" name="Shape 24"/>
          <p:cNvSpPr/>
          <p:nvPr/>
        </p:nvSpPr>
        <p:spPr>
          <a:xfrm>
            <a:off x="5103266" y="4768596"/>
            <a:ext cx="2190902" cy="1790395"/>
          </a:xfrm>
          <a:prstGeom prst="roundRect">
            <a:avLst>
              <a:gd name="adj" fmla="val 2173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 l="2246" r="2246"/>
          <a:stretch/>
        </p:blipFill>
        <p:spPr>
          <a:xfrm>
            <a:off x="5189220" y="4853635"/>
            <a:ext cx="2018995" cy="14100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532120" y="6305702"/>
            <a:ext cx="14200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 vs Confidence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7402982" y="4768596"/>
            <a:ext cx="2190902" cy="1790395"/>
          </a:xfrm>
          <a:prstGeom prst="roundRect">
            <a:avLst>
              <a:gd name="adj" fmla="val 2173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 l="2246" r="2246"/>
          <a:stretch/>
        </p:blipFill>
        <p:spPr>
          <a:xfrm>
            <a:off x="7488022" y="4853635"/>
            <a:ext cx="2018995" cy="14100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919618" y="6305702"/>
            <a:ext cx="12390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Recall vs Confidence</a:t>
            </a:r>
            <a:endParaRPr lang="en-US" sz="900" dirty="0"/>
          </a:p>
        </p:txBody>
      </p:sp>
      <p:sp>
        <p:nvSpPr>
          <p:cNvPr id="38" name="Shape 28"/>
          <p:cNvSpPr/>
          <p:nvPr/>
        </p:nvSpPr>
        <p:spPr>
          <a:xfrm>
            <a:off x="9701784" y="4768596"/>
            <a:ext cx="2190902" cy="1790395"/>
          </a:xfrm>
          <a:prstGeom prst="roundRect">
            <a:avLst>
              <a:gd name="adj" fmla="val 2173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1"/>
          <a:srcRect l="2246" r="2246"/>
          <a:stretch/>
        </p:blipFill>
        <p:spPr>
          <a:xfrm>
            <a:off x="9787738" y="4853635"/>
            <a:ext cx="2018995" cy="1410005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10165385" y="6305702"/>
            <a:ext cx="13533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Precision-Recall (mAP)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257300"/>
            <a:ext cx="11277295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476402"/>
            <a:ext cx="5532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476402"/>
            <a:ext cx="12673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THOUGHTS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94944"/>
            <a:ext cx="20958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Conclusion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1647749"/>
            <a:ext cx="11277295" cy="1419149"/>
          </a:xfrm>
          <a:prstGeom prst="roundRect">
            <a:avLst>
              <a:gd name="adj" fmla="val 5189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4205" y="1886407"/>
            <a:ext cx="609905" cy="609905"/>
          </a:xfrm>
          <a:prstGeom prst="roundRect">
            <a:avLst>
              <a:gd name="adj" fmla="val 1874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929030" y="2076602"/>
            <a:ext cx="200254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61795" y="1886407"/>
            <a:ext cx="201991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Outcome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561795" y="2305202"/>
            <a:ext cx="9644177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 successfully met its goals by delivering a robust, real-time detection model capable of identifying parking availability with high precision.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290926"/>
            <a:ext cx="11277295" cy="1419149"/>
          </a:xfrm>
          <a:prstGeom prst="roundRect">
            <a:avLst>
              <a:gd name="adj" fmla="val 5189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724205" y="3528670"/>
            <a:ext cx="609905" cy="609905"/>
          </a:xfrm>
          <a:prstGeom prst="roundRect">
            <a:avLst>
              <a:gd name="adj" fmla="val 18741"/>
            </a:avLst>
          </a:prstGeom>
          <a:solidFill>
            <a:srgbClr val="4C1D95">
              <a:alpha val="30000"/>
            </a:srgbClr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942746" y="3719779"/>
            <a:ext cx="171907" cy="228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561795" y="3528670"/>
            <a:ext cx="142006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Lesson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561795" y="3948379"/>
            <a:ext cx="982522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GenAI-driven data augmentation is a powerful tool for overcoming class imbalance in computer vision tasks where real-world data collection is difficult.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7200" y="4934102"/>
            <a:ext cx="11277295" cy="1333195"/>
          </a:xfrm>
          <a:prstGeom prst="roundRect">
            <a:avLst>
              <a:gd name="adj" fmla="val 5879"/>
            </a:avLst>
          </a:prstGeom>
          <a:solidFill>
            <a:srgbClr val="112240">
              <a:alpha val="70000"/>
            </a:srgbClr>
          </a:solidFill>
          <a:ln w="12700">
            <a:solidFill>
              <a:srgbClr val="64FFD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724205" y="5171846"/>
            <a:ext cx="609905" cy="609905"/>
          </a:xfrm>
          <a:prstGeom prst="roundRect">
            <a:avLst>
              <a:gd name="adj" fmla="val 18741"/>
            </a:avLst>
          </a:prstGeom>
          <a:solidFill>
            <a:srgbClr val="064E3B">
              <a:alpha val="30000"/>
            </a:srgbClr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4400" y="5362956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61795" y="5171846"/>
            <a:ext cx="222930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Exploration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1561795" y="5591556"/>
            <a:ext cx="4895698" cy="437998"/>
          </a:xfrm>
          <a:prstGeom prst="roundRect">
            <a:avLst>
              <a:gd name="adj" fmla="val 36307"/>
            </a:avLst>
          </a:prstGeom>
          <a:solidFill>
            <a:srgbClr val="1F2937">
              <a:alpha val="5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686154" y="5734202"/>
            <a:ext cx="152705" cy="15270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952244" y="5724144"/>
            <a:ext cx="322508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 on edge hardware (Jetson Nano/RPi)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05626" y="5591556"/>
            <a:ext cx="4895698" cy="437998"/>
          </a:xfrm>
          <a:prstGeom prst="roundRect">
            <a:avLst>
              <a:gd name="adj" fmla="val 36307"/>
            </a:avLst>
          </a:prstGeom>
          <a:solidFill>
            <a:srgbClr val="1F2937">
              <a:alpha val="5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6729070" y="5734202"/>
            <a:ext cx="171907" cy="1527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15277" y="5724144"/>
            <a:ext cx="257677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dataset (Night-time &amp; Weather)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11544300" y="6620256"/>
            <a:ext cx="57607" cy="57607"/>
          </a:xfrm>
          <a:prstGeom prst="roundRect">
            <a:avLst>
              <a:gd name="adj" fmla="val 1587307"/>
            </a:avLst>
          </a:prstGeom>
          <a:solidFill>
            <a:srgbClr val="8B5CF6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11677802" y="6620256"/>
            <a:ext cx="57607" cy="57607"/>
          </a:xfrm>
          <a:prstGeom prst="roundRect">
            <a:avLst>
              <a:gd name="adj" fmla="val 1587307"/>
            </a:avLst>
          </a:prstGeom>
          <a:solidFill>
            <a:srgbClr val="10B981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 txBox="1"/>
          <p:nvPr/>
        </p:nvSpPr>
        <p:spPr>
          <a:xfrm>
            <a:off x="457200" y="6572707"/>
            <a:ext cx="24295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PARKSCOPE PRESENTATION //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494</Words>
  <Application>Microsoft Office PowerPoint</Application>
  <PresentationFormat>מסך רחב</PresentationFormat>
  <Paragraphs>113</Paragraphs>
  <Slides>7</Slides>
  <Notes>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7</vt:i4>
      </vt:variant>
    </vt:vector>
  </HeadingPairs>
  <TitlesOfParts>
    <vt:vector size="13" baseType="lpstr">
      <vt:lpstr>Arial</vt:lpstr>
      <vt:lpstr>Calibri</vt:lpstr>
      <vt:lpstr>Inter</vt:lpstr>
      <vt:lpstr>Space Grotesk</vt:lpstr>
      <vt:lpstr>ui-monospace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ליאור ינאו</cp:lastModifiedBy>
  <cp:revision>45</cp:revision>
  <dcterms:created xsi:type="dcterms:W3CDTF">2026-01-19T01:48:00Z</dcterms:created>
  <dcterms:modified xsi:type="dcterms:W3CDTF">2026-01-26T21:16:53Z</dcterms:modified>
</cp:coreProperties>
</file>